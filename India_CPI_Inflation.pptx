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8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5459" y="959313"/>
            <a:ext cx="5760741" cy="257189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5459" y="3531205"/>
            <a:ext cx="5760741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25459" y="329308"/>
            <a:ext cx="3392144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86200" y="131730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52942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5" name="Picture 14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45485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5459" y="1756130"/>
            <a:ext cx="5764142" cy="2050066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5460" y="3806196"/>
            <a:ext cx="576414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0615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5459" y="959314"/>
            <a:ext cx="6564015" cy="10441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5459" y="2172548"/>
            <a:ext cx="3125871" cy="32789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63822" y="2172548"/>
            <a:ext cx="3125652" cy="32789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69641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652" y="959903"/>
            <a:ext cx="6571344" cy="1044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8131" y="2169094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none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8131" y="2973815"/>
            <a:ext cx="3125766" cy="249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3822" y="2172548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none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63822" y="2971035"/>
            <a:ext cx="3125652" cy="24849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8" name="Picture 17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57134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4" name="Picture 1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1775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031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4041" y="959313"/>
            <a:ext cx="2425950" cy="224205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9877" y="960890"/>
            <a:ext cx="3828178" cy="449691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4041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56219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4996501" y="482171"/>
            <a:ext cx="3511387" cy="5149101"/>
            <a:chOff x="4996501" y="482171"/>
            <a:chExt cx="3511387" cy="5149101"/>
          </a:xfrm>
        </p:grpSpPr>
        <p:sp>
          <p:nvSpPr>
            <p:cNvPr id="14" name="Rectangle 13"/>
            <p:cNvSpPr/>
            <p:nvPr/>
          </p:nvSpPr>
          <p:spPr>
            <a:xfrm>
              <a:off x="4996501" y="482171"/>
              <a:ext cx="3511387" cy="5149101"/>
            </a:xfrm>
            <a:prstGeom prst="rect">
              <a:avLst/>
            </a:prstGeom>
            <a:gradFill>
              <a:gsLst>
                <a:gs pos="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5312152" y="812506"/>
              <a:ext cx="2883013" cy="4479361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2077" y="1129512"/>
            <a:ext cx="3386166" cy="1918487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31420" y="3057166"/>
            <a:ext cx="3390817" cy="2092568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124592" y="5469857"/>
            <a:ext cx="3393977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25459" y="318641"/>
            <a:ext cx="2601032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726491" y="131730"/>
            <a:ext cx="795746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22" name="Picture 21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70363" b="36435"/>
          <a:stretch/>
        </p:blipFill>
        <p:spPr>
          <a:xfrm>
            <a:off x="1125460" y="643464"/>
            <a:ext cx="339242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18967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5" name="Picture 14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80847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86447" y="796298"/>
            <a:ext cx="1103027" cy="466256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1910" y="796298"/>
            <a:ext cx="5301095" cy="46625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59215" b="36435"/>
          <a:stretch/>
        </p:blipFill>
        <p:spPr>
          <a:xfrm rot="5400000">
            <a:off x="5605390" y="3050294"/>
            <a:ext cx="4663440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54656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19854"/>
            <a:ext cx="9144000" cy="74295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468769"/>
            <a:ext cx="9144000" cy="56470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  <a:lumMod val="100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3" name="Straight Connector 12"/>
          <p:cNvCxnSpPr/>
          <p:nvPr/>
        </p:nvCxnSpPr>
        <p:spPr>
          <a:xfrm>
            <a:off x="0" y="6121005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28684" y="956172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8684" y="2167385"/>
            <a:ext cx="6571343" cy="328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21309" y="330371"/>
            <a:ext cx="2368292" cy="3049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28684" y="329308"/>
            <a:ext cx="3388498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93728" y="131730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253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India CPI Inflation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5459" y="3531205"/>
            <a:ext cx="7780416" cy="2460020"/>
          </a:xfrm>
        </p:spPr>
        <p:txBody>
          <a:bodyPr>
            <a:normAutofit/>
          </a:bodyPr>
          <a:lstStyle/>
          <a:p>
            <a:r>
              <a:rPr sz="1800" dirty="0"/>
              <a:t>What drives inflation in India, how it changed over time,</a:t>
            </a:r>
          </a:p>
          <a:p>
            <a:r>
              <a:rPr sz="1800" dirty="0"/>
              <a:t>and how economic shocks impacted prices</a:t>
            </a:r>
          </a:p>
          <a:p>
            <a:endParaRPr sz="1800" dirty="0"/>
          </a:p>
          <a:p>
            <a:r>
              <a:rPr sz="1800" dirty="0"/>
              <a:t>Priyanshu Kamal | Data Analyst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 &amp; Objective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Understanding CPI structure and defining analytical questions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India’s CPI measures inflation using a broad consumption basket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b="1"/>
            </a:pPr>
            <a:r>
              <a:rPr sz="2400" dirty="0"/>
              <a:t>CPI captures price movement across essential and discretionary spends</a:t>
            </a:r>
          </a:p>
          <a:p>
            <a:pPr lvl="1"/>
            <a:r>
              <a:rPr sz="1800" dirty="0"/>
              <a:t>Includes food, housing, fuel, transport, healthcare, education</a:t>
            </a:r>
          </a:p>
          <a:p>
            <a:pPr lvl="1"/>
            <a:r>
              <a:rPr sz="1800" dirty="0"/>
              <a:t>Urban (CPI-U), Rural (CPI-R), and General indices analyzed</a:t>
            </a:r>
          </a:p>
          <a:p>
            <a:pPr lvl="1"/>
            <a:r>
              <a:rPr sz="1800" dirty="0"/>
              <a:t>Equal category weights assumed for analytical simplicity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The objective was to uncover inflation drivers and shock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b="1"/>
            </a:pPr>
            <a:r>
              <a:rPr sz="2800" dirty="0"/>
              <a:t>Analysis focused on structural, cyclical, and external inflation forces</a:t>
            </a:r>
          </a:p>
          <a:p>
            <a:pPr lvl="1"/>
            <a:r>
              <a:rPr sz="2000" dirty="0"/>
              <a:t>Category contribution to CPI</a:t>
            </a:r>
          </a:p>
          <a:p>
            <a:pPr lvl="1"/>
            <a:r>
              <a:rPr sz="2000" dirty="0"/>
              <a:t>Long-term and short-term inflation trends</a:t>
            </a:r>
          </a:p>
          <a:p>
            <a:pPr lvl="1"/>
            <a:r>
              <a:rPr sz="2000" dirty="0"/>
              <a:t>COVID-19 and global crude oil price impact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/>
              <a:t>Analysis 1: Category Contribution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Which categories drive headline inflation?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sz="3600" dirty="0"/>
              <a:t>Food dominates India’s inflation basket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b="1"/>
            </a:pPr>
            <a:r>
              <a:rPr dirty="0"/>
              <a:t>Inflation is highly sensitive to food price movements</a:t>
            </a:r>
          </a:p>
          <a:p>
            <a:pPr lvl="1"/>
            <a:r>
              <a:rPr dirty="0"/>
              <a:t>Food is the single largest contributor to CPI</a:t>
            </a:r>
          </a:p>
          <a:p>
            <a:pPr lvl="1"/>
            <a:r>
              <a:rPr dirty="0"/>
              <a:t>Luxury-related categories form the second-largest share</a:t>
            </a:r>
          </a:p>
          <a:p>
            <a:pPr lvl="1"/>
            <a:r>
              <a:rPr dirty="0"/>
              <a:t>Transportation &amp; communication contribute the least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2EE417-9FB3-4BAC-8733-227BF1426D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117" y="4313834"/>
            <a:ext cx="3386476" cy="164333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/>
              <a:t>Analysis 2: Long-Term Inflation Trend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How has inflation evolved over time?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Inflation accelerated sharply during the COVID period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rPr dirty="0"/>
              <a:t>2020 marked the peak inflation year in recent history</a:t>
            </a:r>
          </a:p>
          <a:p>
            <a:pPr lvl="1"/>
            <a:r>
              <a:rPr dirty="0"/>
              <a:t>YoY CPI inflation shows an upward trend post-2017</a:t>
            </a:r>
          </a:p>
          <a:p>
            <a:pPr lvl="1"/>
            <a:r>
              <a:rPr dirty="0"/>
              <a:t>Pandemic disrupted supply chains and labor markets</a:t>
            </a:r>
          </a:p>
          <a:p>
            <a:pPr lvl="1"/>
            <a:r>
              <a:rPr dirty="0"/>
              <a:t>Demand–supply imbalance drove price pressures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8BA72D-8BFF-43FF-AD8C-41729C95FD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1883" y="4314663"/>
            <a:ext cx="3615067" cy="17819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/>
              <a:t>Analysis 3: Food Inflation Deep Dive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Why food prices remain volatile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Vegetables are the biggest source of food inflation volatility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Seasonality plays a critical role in food price movements</a:t>
            </a:r>
          </a:p>
          <a:p>
            <a:pPr lvl="1"/>
            <a:r>
              <a:t>Vegetables show the highest month-on-month fluctuation</a:t>
            </a:r>
          </a:p>
          <a:p>
            <a:pPr lvl="1"/>
            <a:r>
              <a:t>Fruits show moderate volatility; pulses remain stable</a:t>
            </a:r>
          </a:p>
          <a:p>
            <a:pPr lvl="1"/>
            <a:r>
              <a:t>Vegetable prices drop sharply during Nov–Dec due to harvest cycles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1B8626-E6E5-4874-BF13-2AE5DE538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6608" y="4362322"/>
            <a:ext cx="4130784" cy="172415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/>
              <a:t>Analysis 4: COVID-19 Impact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How the pandemic reshaped inflation dynamics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Mobility restrictions reshaped sector-wise inflation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Impact varied significantly across categories</a:t>
            </a:r>
          </a:p>
          <a:p>
            <a:pPr lvl="1"/>
            <a:r>
              <a:t>Transportation &amp; communication impacted the most</a:t>
            </a:r>
          </a:p>
          <a:p>
            <a:pPr lvl="1"/>
            <a:r>
              <a:t>Fuel &amp; light inflation declined due to demand collapse</a:t>
            </a:r>
          </a:p>
          <a:p>
            <a:pPr lvl="1"/>
            <a:r>
              <a:t>Food and healthcare inflation moderately affected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9EA67C-02CE-4445-9EFB-6092072AC5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973" y="3925246"/>
            <a:ext cx="6571343" cy="216170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/>
              <a:t>Analysis 5: Global Oil Price Shock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Impact of imported crude oil price fluctuations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Transportation inflation is highly exposed to oil price shocks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8684" y="2176910"/>
            <a:ext cx="6571343" cy="3288635"/>
          </a:xfrm>
        </p:spPr>
        <p:txBody>
          <a:bodyPr>
            <a:normAutofit/>
          </a:bodyPr>
          <a:lstStyle/>
          <a:p>
            <a:pPr>
              <a:defRPr b="1"/>
            </a:pPr>
            <a:r>
              <a:rPr sz="2400" dirty="0"/>
              <a:t>Energy price transmission is uneven across sectors</a:t>
            </a:r>
          </a:p>
          <a:p>
            <a:pPr lvl="1"/>
            <a:r>
              <a:rPr sz="1800" dirty="0"/>
              <a:t>Strong correlation between oil prices and transport inflation</a:t>
            </a:r>
          </a:p>
          <a:p>
            <a:pPr lvl="1"/>
            <a:r>
              <a:rPr sz="1800" dirty="0"/>
              <a:t>Health sector inflation shows minimal sensitivity</a:t>
            </a:r>
          </a:p>
          <a:p>
            <a:pPr lvl="1"/>
            <a:r>
              <a:rPr sz="1800" dirty="0"/>
              <a:t>Global events transmit inflation via logistics-intensive sectors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India’s inflation is structurally food-driven and shock-sensitive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Policy response must be targeted, not uniform</a:t>
            </a:r>
          </a:p>
          <a:p>
            <a:pPr lvl="1"/>
            <a:r>
              <a:t>Food price management is critical for inflation control</a:t>
            </a:r>
          </a:p>
          <a:p>
            <a:pPr lvl="1"/>
            <a:r>
              <a:t>Seasonality and supply-side measures matter more than demand tightening</a:t>
            </a:r>
          </a:p>
          <a:p>
            <a:pPr lvl="1"/>
            <a:r>
              <a:t>External shocks primarily affect transport and fuel-linked sectors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Conclusion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8683" y="1578694"/>
            <a:ext cx="6571343" cy="3288635"/>
          </a:xfrm>
        </p:spPr>
        <p:txBody>
          <a:bodyPr/>
          <a:lstStyle/>
          <a:p>
            <a:r>
              <a:rPr lang="en-US" dirty="0"/>
              <a:t>This project demonstrates the use of Excel to derive</a:t>
            </a:r>
          </a:p>
          <a:p>
            <a:r>
              <a:rPr lang="en-US" dirty="0"/>
              <a:t>policy-relevant insights from CPI inflation data in India.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CDCE0"/>
      </a:lt2>
      <a:accent1>
        <a:srgbClr val="415588"/>
      </a:accent1>
      <a:accent2>
        <a:srgbClr val="4294B6"/>
      </a:accent2>
      <a:accent3>
        <a:srgbClr val="087D7C"/>
      </a:accent3>
      <a:accent4>
        <a:srgbClr val="04B663"/>
      </a:accent4>
      <a:accent5>
        <a:srgbClr val="DF8822"/>
      </a:accent5>
      <a:accent6>
        <a:srgbClr val="BC410A"/>
      </a:accent6>
      <a:hlink>
        <a:srgbClr val="5977C4"/>
      </a:hlink>
      <a:folHlink>
        <a:srgbClr val="01A9BF"/>
      </a:folHlink>
    </a:clrScheme>
    <a:fontScheme name="Gallery">
      <a:majorFont>
        <a:latin typeface="Century Gothic" panose="020B0502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  <a:lumMod val="108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E050AC27-895F-4B90-991D-A6818FC89AB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32</TotalTime>
  <Words>427</Words>
  <Application>Microsoft Office PowerPoint</Application>
  <PresentationFormat>On-screen Show (4:3)</PresentationFormat>
  <Paragraphs>60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Century Gothic</vt:lpstr>
      <vt:lpstr>Gallery</vt:lpstr>
      <vt:lpstr>India CPI Inflation Case Study</vt:lpstr>
      <vt:lpstr>Context &amp; Objective</vt:lpstr>
      <vt:lpstr>India’s CPI measures inflation using a broad consumption basket</vt:lpstr>
      <vt:lpstr>The objective was to uncover inflation drivers and shock impact</vt:lpstr>
      <vt:lpstr>Analysis 1: Category Contribution</vt:lpstr>
      <vt:lpstr>Food dominates India’s inflation basket</vt:lpstr>
      <vt:lpstr>Analysis 2: Long-Term Inflation Trend</vt:lpstr>
      <vt:lpstr>Inflation accelerated sharply during the COVID period</vt:lpstr>
      <vt:lpstr>Analysis 3: Food Inflation Deep Dive</vt:lpstr>
      <vt:lpstr>Vegetables are the biggest source of food inflation volatility</vt:lpstr>
      <vt:lpstr>Analysis 4: COVID-19 Impact</vt:lpstr>
      <vt:lpstr>Mobility restrictions reshaped sector-wise inflation</vt:lpstr>
      <vt:lpstr>Analysis 5: Global Oil Price Shock</vt:lpstr>
      <vt:lpstr>Transportation inflation is highly exposed to oil price shocks</vt:lpstr>
      <vt:lpstr>India’s inflation is structurally food-driven and shock-sensitive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India CPI Inflation Case Study</dc:title>
  <dc:subject/>
  <dc:creator>ASUS</dc:creator>
  <cp:keywords/>
  <dc:description>generated using python-pptx</dc:description>
  <cp:lastModifiedBy>ASUS</cp:lastModifiedBy>
  <cp:revision>3</cp:revision>
  <dcterms:created xsi:type="dcterms:W3CDTF">2013-01-27T09:14:16Z</dcterms:created>
  <dcterms:modified xsi:type="dcterms:W3CDTF">2026-05-02T10:14:30Z</dcterms:modified>
  <cp:category/>
</cp:coreProperties>
</file>